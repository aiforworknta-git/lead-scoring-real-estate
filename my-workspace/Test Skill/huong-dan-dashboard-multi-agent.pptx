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2F2C-245E-3F54-35D0-2F251DD0A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D368B-580F-DDD6-C29D-5012E3FE4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77E76-E458-C3AD-9F00-69F0AA6D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02B0-963B-96F0-A4F0-EA6C549E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D1989-C97C-419E-717D-EC977FD4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8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7183-214E-65A9-3D6B-C2D024FF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3FB8-1C98-95E4-BB27-FD98E31B5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EE0C-F7D5-AC9A-922E-6A43A83A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A8F00-1E22-7EB2-D4E5-FCC0002B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1F40B-70EF-E1BD-4A27-9769D28D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6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C5C0-559F-83E9-BF50-0BFBA71E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C2FF7-8452-317F-2F06-D13960288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9336-7D62-7E96-4EEC-021DF443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F7CDB-A6B0-DF7A-4478-7CBAA749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5C7C0-7C0C-39EB-2C9A-9C6F4C24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7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5438-13E4-37A2-00CC-95954B99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2096-41FF-0CE7-43D6-55B14BBA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45EC7-EECB-621A-A1DD-69294B727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A52EC-67ED-808B-5051-6542D41B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D4127-B9EF-4BA5-CAE2-BC5DB838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A8FEF-0ED3-EE96-D39D-81238365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6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FBFE-14AD-D0D4-7B13-65A5F38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2F795-F00F-83EF-DECF-BE79F92E7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AB1EA-41CE-D5C7-0036-CC56236D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5CB69-FED9-F5A3-072F-C495F53BB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6AA51-BBCC-A1BD-EBE0-38E82DFD4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2413B-BE1D-0E12-8FC4-9BDA90B9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35548-D6B6-CBBB-92EA-923FB556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E425B-2A6D-FE9C-772E-7937284F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0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5B1A-5810-F134-644D-9D2130C1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48F47-03E2-3112-51CB-A02F1AFD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716FB-9E53-68CC-6883-339845D4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15D20-5E7F-F4D4-E9F6-27F9394F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6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66CCD-AC67-003E-02D1-2CDF5E82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2ECD6-E911-BA03-9BC0-2B1617EE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EA178-2BFE-44C3-9E20-FE2FC175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5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9313-BDBB-1E71-316B-9A1AA35F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BD85-DF4D-4F0A-06EC-32887B7D2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97E8F-29D2-7123-FA87-8130C2F32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7BA7B-F3C8-F452-0FD0-1C6EE9B5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5BEF6-F68E-6368-5405-2E21D8A6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6A288-844E-CCC2-C1B5-469F8B7B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5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B296-D0F3-B4D9-CC8D-000D6E25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A4BD6-7C86-0CC9-BDBE-874885215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36A9B-E81E-563A-7734-9C6725310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509DF-C5C4-EEA8-1445-8F476D42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91E61-7DAE-C650-256B-886CA51E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A6154-D7B5-965F-AF7F-D2F99E95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8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A74A-98F6-0B88-FFCF-D7DA6149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1C3B7-783F-0690-19DE-526EDA2D9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4105-D5A7-E2F4-A11E-85E8783D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B6739-C814-9F46-D8A2-7BBBC8AE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6F0B2-ED16-2035-9F46-81073BA8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0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4E209-1561-E8E1-E60B-4A5C3D246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EAAC6-8260-3EED-EA4F-1B2E6FB7F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558F3-BBDD-10B8-5292-A3A303A4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81802-5571-0FD2-3DBD-96E1C4F5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D828-681E-37B1-1427-8F9FA74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7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0A3AD-41CD-9441-FC9D-6FDE3178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2784D-EA38-73CA-E85A-4B5A89632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7CCD6-C002-F7CD-9FE9-0124B3A76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65EB7-A38A-4F29-BDA3-D0E9CC220E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F426-CB8B-DEB1-46A5-04102AF50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BAB63-A016-1431-98B4-0BC469454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6D9D6-C075-4A5C-8909-81DDC16D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2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087A40-9D74-4CE7-1EB7-FA33F3CBB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674A6F-576E-15BB-3F90-4C689D23710D}"/>
              </a:ext>
            </a:extLst>
          </p:cNvPr>
          <p:cNvSpPr/>
          <p:nvPr/>
        </p:nvSpPr>
        <p:spPr>
          <a:xfrm>
            <a:off x="571500" y="698500"/>
            <a:ext cx="4572000" cy="355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59669"/>
                </a:solidFill>
                <a:latin typeface="Segoe UI" panose="020B0502040204020203" pitchFamily="34" charset="0"/>
              </a:rPr>
              <a:t>AI4A EXECUTIVE FRAMEWORK | MCKINSEY STANDARD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CA3F5-BEE1-F827-69B2-D7F2BD5710A9}"/>
              </a:ext>
            </a:extLst>
          </p:cNvPr>
          <p:cNvSpPr txBox="1"/>
          <p:nvPr/>
        </p:nvSpPr>
        <p:spPr>
          <a:xfrm>
            <a:off x="571500" y="1333500"/>
            <a:ext cx="11049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</a:rPr>
              <a:t>KIẾN TRÚC DASHBOARD DOANH NGHIỆP LỚN
VÀ ĐIỀU PHỐI MULTI-AGENT TRÊN GOOGLE DRIVE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F5315-9A04-28E4-93D6-DCDB4113152E}"/>
              </a:ext>
            </a:extLst>
          </p:cNvPr>
          <p:cNvSpPr txBox="1"/>
          <p:nvPr/>
        </p:nvSpPr>
        <p:spPr>
          <a:xfrm>
            <a:off x="571500" y="2921000"/>
            <a:ext cx="11049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400">
                <a:solidFill>
                  <a:srgbClr val="94A3B8"/>
                </a:solidFill>
                <a:latin typeface="Segoe UI" panose="020B0502040204020203" pitchFamily="34" charset="0"/>
              </a:rPr>
              <a:t>Cẩm nang quy chuẩn phân quyền 5 tầng thư mục, cơ chế khóa tệp trạng thái (State-Lock)
và kỹ thuật tiền tổng hợp (Pre-aggregation) chống xung đột cho đội ngũ Agentic AI</a:t>
            </a:r>
            <a:endParaRPr lang="en-US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76B925-8CF5-CE56-03F7-84EA2D342A47}"/>
              </a:ext>
            </a:extLst>
          </p:cNvPr>
          <p:cNvSpPr/>
          <p:nvPr/>
        </p:nvSpPr>
        <p:spPr>
          <a:xfrm>
            <a:off x="571500" y="4064000"/>
            <a:ext cx="3556000" cy="1079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b="1">
                <a:solidFill>
                  <a:srgbClr val="FFFFFF"/>
                </a:solidFill>
                <a:latin typeface="Segoe UI" panose="020B0502040204020203" pitchFamily="34" charset="0"/>
              </a:rPr>
              <a:t>5 TẦNG THƯ MỤC DRIVE
Phân vùng Read/Write bất biến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945102-3CD8-4A8E-4D38-F5BC74B40928}"/>
              </a:ext>
            </a:extLst>
          </p:cNvPr>
          <p:cNvSpPr/>
          <p:nvPr/>
        </p:nvSpPr>
        <p:spPr>
          <a:xfrm>
            <a:off x="4318000" y="4064000"/>
            <a:ext cx="3556000" cy="1079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GIAO THỨC STATE-LOCK
Khóa file &amp; Manifest chống race condition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F07FFC-D137-F6B0-0443-705AE81BB2EC}"/>
              </a:ext>
            </a:extLst>
          </p:cNvPr>
          <p:cNvSpPr/>
          <p:nvPr/>
        </p:nvSpPr>
        <p:spPr>
          <a:xfrm>
            <a:off x="8064500" y="4064000"/>
            <a:ext cx="3556000" cy="1079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PRE-AGGREGATION &lt; 1.5MB
Nén 97% dữ liệu, mở tức thì trên Mobile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E0BD2-B973-5110-E729-49B9CECBA93C}"/>
              </a:ext>
            </a:extLst>
          </p:cNvPr>
          <p:cNvSpPr txBox="1"/>
          <p:nvPr/>
        </p:nvSpPr>
        <p:spPr>
          <a:xfrm>
            <a:off x="571500" y="60325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Segoe UI" panose="020B0502040204020203" pitchFamily="34" charset="0"/>
              </a:rPr>
              <a:t>Hệ thống: AI4A Student Workspace | Ban Kiến Trúc Agentic AI | Định dạng 16:9 Widescreen</a:t>
            </a:r>
          </a:p>
        </p:txBody>
      </p:sp>
    </p:spTree>
    <p:extLst>
      <p:ext uri="{BB962C8B-B14F-4D97-AF65-F5344CB8AC3E}">
        <p14:creationId xmlns:p14="http://schemas.microsoft.com/office/powerpoint/2010/main" val="120575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18275D-A2BD-B0FC-4271-621910AEC9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C51D2-7922-AF15-8EA4-4CBA53E94AB1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  <a:latin typeface="Segoe UI" panose="020B0502040204020203" pitchFamily="34" charset="0"/>
              </a:rPr>
              <a:t>TÓM TẮT ĐIỀU HÀNH 60 GIÂY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1E524-4818-988D-0BA8-7E9D2277CBF6}"/>
              </a:ext>
            </a:extLst>
          </p:cNvPr>
          <p:cNvSpPr txBox="1"/>
          <p:nvPr/>
        </p:nvSpPr>
        <p:spPr>
          <a:xfrm>
            <a:off x="571500" y="584200"/>
            <a:ext cx="11049000" cy="5693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700" b="1">
                <a:solidFill>
                  <a:srgbClr val="0F172A"/>
                </a:solidFill>
                <a:latin typeface="Segoe UI" panose="020B0502040204020203" pitchFamily="34" charset="0"/>
              </a:rPr>
              <a:t>Chìa Khóa Làm Dashboard Lớn Nằm Ở Phân Tầng Thư Mục Bất Biến Và Bàn Giao Kèm Khóa Trạng Thái Giữa Các Agent</a:t>
            </a:r>
            <a:endParaRPr lang="en-US" sz="17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3C57B-104C-7E74-08EA-02D170DE971E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B3B881-3F1C-CC80-7B4A-971A3614DF96}"/>
              </a:ext>
            </a:extLst>
          </p:cNvPr>
          <p:cNvSpPr/>
          <p:nvPr/>
        </p:nvSpPr>
        <p:spPr>
          <a:xfrm>
            <a:off x="571500" y="1587500"/>
            <a:ext cx="3556000" cy="463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E1472-21F7-2A36-DB51-E560CF8B5B53}"/>
              </a:ext>
            </a:extLst>
          </p:cNvPr>
          <p:cNvSpPr/>
          <p:nvPr/>
        </p:nvSpPr>
        <p:spPr>
          <a:xfrm>
            <a:off x="571500" y="1587500"/>
            <a:ext cx="3556000" cy="762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0551C-99DE-1F54-48E2-00DE50C54062}"/>
              </a:ext>
            </a:extLst>
          </p:cNvPr>
          <p:cNvSpPr txBox="1"/>
          <p:nvPr/>
        </p:nvSpPr>
        <p:spPr>
          <a:xfrm>
            <a:off x="762000" y="1841500"/>
            <a:ext cx="317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  <a:latin typeface="Segoe UI" panose="020B0502040204020203" pitchFamily="34" charset="0"/>
              </a:rPr>
              <a:t>TRỤ CỘT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48D37-81EA-D3BC-6BB9-88A2A057D97C}"/>
              </a:ext>
            </a:extLst>
          </p:cNvPr>
          <p:cNvSpPr txBox="1"/>
          <p:nvPr/>
        </p:nvSpPr>
        <p:spPr>
          <a:xfrm>
            <a:off x="762000" y="21844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Kiến Trúc Drive 5 Tầng Phân Lập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42A50-7768-9E32-3FDB-4E4C1017909C}"/>
              </a:ext>
            </a:extLst>
          </p:cNvPr>
          <p:cNvSpPr txBox="1"/>
          <p:nvPr/>
        </p:nvSpPr>
        <p:spPr>
          <a:xfrm>
            <a:off x="762000" y="2921000"/>
            <a:ext cx="3175000" cy="123110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334155"/>
                </a:solidFill>
                <a:latin typeface="Segoe UI" panose="020B0502040204020203" pitchFamily="34" charset="0"/>
              </a:rPr>
              <a:t>•  Tách bạch 5 vùng thư mục độc lập
•  Mỗi Agent chỉ có quyền ghi trên 1 folder
•  Đầu ra Agent trước là đầu vào Agent sau
•  Triệt tiêu 100% rủi ro ghi đè file chéo</a:t>
            </a:r>
            <a:endParaRPr lang="en-US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350BD4-1141-D81E-B41E-89A20DE0E0CE}"/>
              </a:ext>
            </a:extLst>
          </p:cNvPr>
          <p:cNvSpPr/>
          <p:nvPr/>
        </p:nvSpPr>
        <p:spPr>
          <a:xfrm>
            <a:off x="4318000" y="1587500"/>
            <a:ext cx="3556000" cy="463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7FE1A-480F-63E0-F9DD-380BF9A2BC32}"/>
              </a:ext>
            </a:extLst>
          </p:cNvPr>
          <p:cNvSpPr/>
          <p:nvPr/>
        </p:nvSpPr>
        <p:spPr>
          <a:xfrm>
            <a:off x="4318000" y="1587500"/>
            <a:ext cx="3556000" cy="762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556A66-7C9F-C0C3-6111-C7119C5ACE7D}"/>
              </a:ext>
            </a:extLst>
          </p:cNvPr>
          <p:cNvSpPr txBox="1"/>
          <p:nvPr/>
        </p:nvSpPr>
        <p:spPr>
          <a:xfrm>
            <a:off x="4508500" y="1841500"/>
            <a:ext cx="317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TRỤ CỘT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14ACA-D4D8-F7C6-0C1E-53A2B198B513}"/>
              </a:ext>
            </a:extLst>
          </p:cNvPr>
          <p:cNvSpPr txBox="1"/>
          <p:nvPr/>
        </p:nvSpPr>
        <p:spPr>
          <a:xfrm>
            <a:off x="4508500" y="21844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Giao Thức State-Lock &amp; Hand-off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C80D9-CCF8-4034-A17C-58DCE239E868}"/>
              </a:ext>
            </a:extLst>
          </p:cNvPr>
          <p:cNvSpPr txBox="1"/>
          <p:nvPr/>
        </p:nvSpPr>
        <p:spPr>
          <a:xfrm>
            <a:off x="4508500" y="2921000"/>
            <a:ext cx="3175000" cy="123110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•  Giao tiếp qua file manifest.json &amp; lock
•  Agent sau chỉ kích hoạt khi có chữ ký PASSED
•  QA Auditor đóng vai trò chốt chặn độc lập
•  Dừng ngay lập tức nếu sai số đối soát &gt; 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FB5CBB-2E6E-4E5F-48D9-6ED29549833E}"/>
              </a:ext>
            </a:extLst>
          </p:cNvPr>
          <p:cNvSpPr/>
          <p:nvPr/>
        </p:nvSpPr>
        <p:spPr>
          <a:xfrm>
            <a:off x="8064500" y="1587500"/>
            <a:ext cx="3556000" cy="463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FD1DF5-71BB-5D0B-73AF-9A6073473E2E}"/>
              </a:ext>
            </a:extLst>
          </p:cNvPr>
          <p:cNvSpPr/>
          <p:nvPr/>
        </p:nvSpPr>
        <p:spPr>
          <a:xfrm>
            <a:off x="8064500" y="1587500"/>
            <a:ext cx="3556000" cy="762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BB4AE-700B-6D23-9375-74ECC4C9B3A9}"/>
              </a:ext>
            </a:extLst>
          </p:cNvPr>
          <p:cNvSpPr txBox="1"/>
          <p:nvPr/>
        </p:nvSpPr>
        <p:spPr>
          <a:xfrm>
            <a:off x="8255000" y="1841500"/>
            <a:ext cx="3175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000" b="1">
                <a:solidFill>
                  <a:srgbClr val="D97706"/>
                </a:solidFill>
                <a:latin typeface="Segoe UI" panose="020B0502040204020203" pitchFamily="34" charset="0"/>
              </a:rPr>
              <a:t>TRỤ CỘT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E1870-82B0-E87C-1749-7BF46547A21A}"/>
              </a:ext>
            </a:extLst>
          </p:cNvPr>
          <p:cNvSpPr txBox="1"/>
          <p:nvPr/>
        </p:nvSpPr>
        <p:spPr>
          <a:xfrm>
            <a:off x="8255000" y="21844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Pre-aggregation Nén Dữ Liệu 97%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9DB37-9777-AA99-17FC-519EE02CC11B}"/>
              </a:ext>
            </a:extLst>
          </p:cNvPr>
          <p:cNvSpPr txBox="1"/>
          <p:nvPr/>
        </p:nvSpPr>
        <p:spPr>
          <a:xfrm>
            <a:off x="8255000" y="2921000"/>
            <a:ext cx="3175000" cy="123110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•  Không bao giờ kéo 50MB file thô lên UI
•  Tiền tổng hợp thành các cube nhỏ &lt; 1.5MB
•  Thời gian render trang &lt; 0.5s trên Mobile
•  Tích hợp xuất thẻ ảnh Zalo 30s &amp; chốt số</a:t>
            </a:r>
          </a:p>
        </p:txBody>
      </p:sp>
    </p:spTree>
    <p:extLst>
      <p:ext uri="{BB962C8B-B14F-4D97-AF65-F5344CB8AC3E}">
        <p14:creationId xmlns:p14="http://schemas.microsoft.com/office/powerpoint/2010/main" val="237194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08C201-3D28-A40F-C277-3D9DE61BB4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2E391-D5CF-8E75-3B5D-C32073B9B297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00" b="1">
                <a:solidFill>
                  <a:srgbClr val="0284C7"/>
                </a:solidFill>
                <a:latin typeface="Segoe UI" panose="020B0502040204020203" pitchFamily="34" charset="0"/>
              </a:rPr>
              <a:t>THÁCH THỨC &amp; CẢNH BÁO NGUY CƠ</a:t>
            </a:r>
            <a:endParaRPr lang="en-US" sz="10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BCF1F-C8ED-EB44-9AAD-E64F3F1772C9}"/>
              </a:ext>
            </a:extLst>
          </p:cNvPr>
          <p:cNvSpPr txBox="1"/>
          <p:nvPr/>
        </p:nvSpPr>
        <p:spPr>
          <a:xfrm>
            <a:off x="571500" y="584200"/>
            <a:ext cx="11049000" cy="56938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700" b="1">
                <a:solidFill>
                  <a:srgbClr val="0F172A"/>
                </a:solidFill>
                <a:latin typeface="Segoe UI" panose="020B0502040204020203" pitchFamily="34" charset="0"/>
              </a:rPr>
              <a:t>Môi Trường Drive Dùng Chung Dễ Gây Đổ Vỡ Hệ Thống Do Xung Đột Sync, Dữ Liệu Nặng Và Sai Số Không Kiểm Soát</a:t>
            </a:r>
            <a:endParaRPr lang="en-US" sz="17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8C9A0-B60C-6220-952A-56C69E16E149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4A6E2F-0EFD-AFC4-F6BE-D9C514859577}"/>
              </a:ext>
            </a:extLst>
          </p:cNvPr>
          <p:cNvSpPr/>
          <p:nvPr/>
        </p:nvSpPr>
        <p:spPr>
          <a:xfrm>
            <a:off x="571500" y="1651000"/>
            <a:ext cx="3556000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330BC3-DE4A-0E03-D81B-F65A1831E8A5}"/>
              </a:ext>
            </a:extLst>
          </p:cNvPr>
          <p:cNvSpPr/>
          <p:nvPr/>
        </p:nvSpPr>
        <p:spPr>
          <a:xfrm>
            <a:off x="571500" y="1651000"/>
            <a:ext cx="3556000" cy="889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CẠM BẪY 1: XUNG ĐỘT GHI ĐÈ FILE
Race Condition &amp; Sync Latency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AB61D-0148-F75C-1C80-257299038FCC}"/>
              </a:ext>
            </a:extLst>
          </p:cNvPr>
          <p:cNvSpPr txBox="1"/>
          <p:nvPr/>
        </p:nvSpPr>
        <p:spPr>
          <a:xfrm>
            <a:off x="762000" y="2730500"/>
            <a:ext cx="3175000" cy="106182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450A0A"/>
                </a:solidFill>
                <a:latin typeface="Segoe UI" panose="020B0502040204020203" pitchFamily="34" charset="0"/>
              </a:rPr>
              <a:t>Khi 2 agent cùng mở và cập nhật 1 file Excel/JSON, Google Drive tự động sinh file bản sao '(1)'.
Hậu quả: Gây đứt gãy luồng pipeline tự động, agent phía sau đọc dữ liệu cũ chưa cập nhật.</a:t>
            </a:r>
            <a:endParaRPr lang="en-US" sz="1100">
              <a:solidFill>
                <a:srgbClr val="450A0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8EFC22-3C0B-DE72-BF57-E1CB61D71A39}"/>
              </a:ext>
            </a:extLst>
          </p:cNvPr>
          <p:cNvSpPr/>
          <p:nvPr/>
        </p:nvSpPr>
        <p:spPr>
          <a:xfrm>
            <a:off x="4318000" y="1651000"/>
            <a:ext cx="3556000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212F3-DE7A-403D-D417-1C8B4B9DB917}"/>
              </a:ext>
            </a:extLst>
          </p:cNvPr>
          <p:cNvSpPr/>
          <p:nvPr/>
        </p:nvSpPr>
        <p:spPr>
          <a:xfrm>
            <a:off x="4318000" y="1651000"/>
            <a:ext cx="3556000" cy="8890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CẠM BẪY 2: DASHBOARD NẶNG TRÌNH DUYỆT
Client Storage &amp; Bandwidth Bloat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69797-7B99-6398-5B43-E236BC9B0FA1}"/>
              </a:ext>
            </a:extLst>
          </p:cNvPr>
          <p:cNvSpPr txBox="1"/>
          <p:nvPr/>
        </p:nvSpPr>
        <p:spPr>
          <a:xfrm>
            <a:off x="4508500" y="2730500"/>
            <a:ext cx="3175000" cy="106182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450A0A"/>
                </a:solidFill>
                <a:latin typeface="Segoe UI" panose="020B0502040204020203" pitchFamily="34" charset="0"/>
              </a:rPr>
              <a:t>Nhúng thẳng file dữ liệu thô 50MB+ vào code HTML/JS dashboard khiến web mở mất 15-30 giây.
Hậu quả: Trình duyệt đơ lag, tốn RAM điện thoại và sập tab khi xem trên thiết bị di động.</a:t>
            </a:r>
            <a:endParaRPr lang="en-US" sz="1100">
              <a:solidFill>
                <a:srgbClr val="450A0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302048-8AB0-7AC2-EEC4-1C6555760BCD}"/>
              </a:ext>
            </a:extLst>
          </p:cNvPr>
          <p:cNvSpPr/>
          <p:nvPr/>
        </p:nvSpPr>
        <p:spPr>
          <a:xfrm>
            <a:off x="8064500" y="1651000"/>
            <a:ext cx="3556000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222D94-6016-E264-8CA4-80A7E404A180}"/>
              </a:ext>
            </a:extLst>
          </p:cNvPr>
          <p:cNvSpPr/>
          <p:nvPr/>
        </p:nvSpPr>
        <p:spPr>
          <a:xfrm>
            <a:off x="8064500" y="1651000"/>
            <a:ext cx="3556000" cy="889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CẠM BẪY 3: HIỆU ỨNG LAN TRUYỀN DỮ LIỆU BẨN
Garbage In - Garbage Out Hazard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75268-06E4-D553-DE64-336AA863B5A1}"/>
              </a:ext>
            </a:extLst>
          </p:cNvPr>
          <p:cNvSpPr txBox="1"/>
          <p:nvPr/>
        </p:nvSpPr>
        <p:spPr>
          <a:xfrm>
            <a:off x="8255000" y="2730500"/>
            <a:ext cx="3175000" cy="89255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450A0A"/>
                </a:solidFill>
                <a:latin typeface="Segoe UI" panose="020B0502040204020203" pitchFamily="34" charset="0"/>
              </a:rPr>
              <a:t>Dashboard Architect lấy dữ liệu chưa qua Data Cleaner và QA Auditor để dựng biểu đồ.
Hậu quả: Sai lệch số liệu trước Ban Giám Đốc, chia cho 0, mất uy tín dữ liệu của phòng ban.</a:t>
            </a:r>
            <a:endParaRPr lang="en-US" sz="1100">
              <a:solidFill>
                <a:srgbClr val="450A0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95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304B16-F798-BDF5-8CD5-FFF58758BE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CF0F0-64E1-1233-17DC-63A910C434BA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  <a:latin typeface="Segoe UI" panose="020B0502040204020203" pitchFamily="34" charset="0"/>
              </a:rPr>
              <a:t>MÔ HÌNH HẠ TẦNG GOOGLE DRIVE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AF0D3-356B-19C0-DC62-CC89A0E8218D}"/>
              </a:ext>
            </a:extLst>
          </p:cNvPr>
          <p:cNvSpPr txBox="1"/>
          <p:nvPr/>
        </p:nvSpPr>
        <p:spPr>
          <a:xfrm>
            <a:off x="571500" y="584200"/>
            <a:ext cx="11049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700" b="1">
                <a:solidFill>
                  <a:srgbClr val="0F172A"/>
                </a:solidFill>
                <a:latin typeface="Segoe UI" panose="020B0502040204020203" pitchFamily="34" charset="0"/>
              </a:rPr>
              <a:t>Thiết Lập 5 Phân Vùng Chuyên Biệt Trên Drive Để Quy Định Rõ Ràng Ranh Giới Đọc - Ghi Cho Từng 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F24E6D-DCFF-1947-5C3A-7081F05C63F2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29353F-97A9-FA7A-0BD7-C4FFC6A32DF5}"/>
              </a:ext>
            </a:extLst>
          </p:cNvPr>
          <p:cNvSpPr/>
          <p:nvPr/>
        </p:nvSpPr>
        <p:spPr>
          <a:xfrm>
            <a:off x="571500" y="15240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D3408A-1747-ED64-9601-B2D04A341DE6}"/>
              </a:ext>
            </a:extLst>
          </p:cNvPr>
          <p:cNvSpPr/>
          <p:nvPr/>
        </p:nvSpPr>
        <p:spPr>
          <a:xfrm>
            <a:off x="698500" y="16256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284C7"/>
                </a:solidFill>
                <a:latin typeface="Consolas" panose="020B0609020204030204" pitchFamily="49" charset="0"/>
              </a:rPr>
              <a:t>00_RAW_INGESTION/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44ED8A-8698-7681-CF50-7026348E3B0F}"/>
              </a:ext>
            </a:extLst>
          </p:cNvPr>
          <p:cNvSpPr/>
          <p:nvPr/>
        </p:nvSpPr>
        <p:spPr>
          <a:xfrm>
            <a:off x="3683000" y="1676400"/>
            <a:ext cx="2159000" cy="381000"/>
          </a:xfrm>
          <a:prstGeom prst="round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Chỉ Đọc (Read-Only)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66F03-4019-5550-DEA2-4CA5DA410501}"/>
              </a:ext>
            </a:extLst>
          </p:cNvPr>
          <p:cNvSpPr txBox="1"/>
          <p:nvPr/>
        </p:nvSpPr>
        <p:spPr>
          <a:xfrm>
            <a:off x="6032500" y="15875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Data Ingest / ERP Sync
Lưu trữ dữ liệu thô trích xuất từ SAP, ERP, DMS. Không agent nào được sửa.</a:t>
            </a:r>
            <a:endParaRPr lang="en-US" sz="10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ED7B38-445B-64E1-63BA-AAA23ECF3BB1}"/>
              </a:ext>
            </a:extLst>
          </p:cNvPr>
          <p:cNvSpPr/>
          <p:nvPr/>
        </p:nvSpPr>
        <p:spPr>
          <a:xfrm>
            <a:off x="571500" y="23114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5AA926-808E-DE48-DA45-6380B6656AF4}"/>
              </a:ext>
            </a:extLst>
          </p:cNvPr>
          <p:cNvSpPr/>
          <p:nvPr/>
        </p:nvSpPr>
        <p:spPr>
          <a:xfrm>
            <a:off x="698500" y="24130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59669"/>
                </a:solidFill>
                <a:latin typeface="Consolas" panose="020B0609020204030204" pitchFamily="49" charset="0"/>
              </a:rPr>
              <a:t>01_CLEANSED_DATA/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E64161-E32C-D638-F815-FD2C4980DC6A}"/>
              </a:ext>
            </a:extLst>
          </p:cNvPr>
          <p:cNvSpPr/>
          <p:nvPr/>
        </p:nvSpPr>
        <p:spPr>
          <a:xfrm>
            <a:off x="3683000" y="2463800"/>
            <a:ext cx="2159000" cy="381000"/>
          </a:xfrm>
          <a:prstGeom prst="round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Độc Quyền Ghi (Write-Only)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2E7F7-FCEB-B435-691E-EFC94C858632}"/>
              </a:ext>
            </a:extLst>
          </p:cNvPr>
          <p:cNvSpPr txBox="1"/>
          <p:nvPr/>
        </p:nvSpPr>
        <p:spPr>
          <a:xfrm>
            <a:off x="6032500" y="23749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ai4a-data-cleaner
Dữ liệu đã khử dòng rác, xử lý null, đồng bộ UTF-8 tiếng Việt, chống chia cho 0.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A310D6-3FDC-44E2-4B09-E2B860D3DE8B}"/>
              </a:ext>
            </a:extLst>
          </p:cNvPr>
          <p:cNvSpPr/>
          <p:nvPr/>
        </p:nvSpPr>
        <p:spPr>
          <a:xfrm>
            <a:off x="571500" y="30988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63992E-EAB1-DEBE-9405-9B18E3F5A75D}"/>
              </a:ext>
            </a:extLst>
          </p:cNvPr>
          <p:cNvSpPr/>
          <p:nvPr/>
        </p:nvSpPr>
        <p:spPr>
          <a:xfrm>
            <a:off x="698500" y="32004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D97706"/>
                </a:solidFill>
                <a:latin typeface="Consolas" panose="020B0609020204030204" pitchFamily="49" charset="0"/>
              </a:rPr>
              <a:t>02_PRE_AGGREGATED/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AAA8E7-D32D-C079-58A6-DE0F2D83DCDA}"/>
              </a:ext>
            </a:extLst>
          </p:cNvPr>
          <p:cNvSpPr/>
          <p:nvPr/>
        </p:nvSpPr>
        <p:spPr>
          <a:xfrm>
            <a:off x="3683000" y="3251200"/>
            <a:ext cx="2159000" cy="381000"/>
          </a:xfrm>
          <a:prstGeom prst="round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Độc Quyền Ghi (Write-Only)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35D91-8249-0841-1672-69F99AE3C8F7}"/>
              </a:ext>
            </a:extLst>
          </p:cNvPr>
          <p:cNvSpPr txBox="1"/>
          <p:nvPr/>
        </p:nvSpPr>
        <p:spPr>
          <a:xfrm>
            <a:off x="6032500" y="31623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ai4a-dashboard-architect
Các khối Cube tổng hợp theo Chi nhánh / Quản lý / Tuần, nén kích thước &lt; 1.5MB.</a:t>
            </a:r>
            <a:endParaRPr lang="en-US" sz="10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0B289E-99B7-A7EF-2A71-5AEBF85E34D0}"/>
              </a:ext>
            </a:extLst>
          </p:cNvPr>
          <p:cNvSpPr/>
          <p:nvPr/>
        </p:nvSpPr>
        <p:spPr>
          <a:xfrm>
            <a:off x="571500" y="38862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246663-A62F-EEC1-3F98-BC0C5C3356BA}"/>
              </a:ext>
            </a:extLst>
          </p:cNvPr>
          <p:cNvSpPr/>
          <p:nvPr/>
        </p:nvSpPr>
        <p:spPr>
          <a:xfrm>
            <a:off x="698500" y="39878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284C7"/>
                </a:solidFill>
                <a:latin typeface="Consolas" panose="020B0609020204030204" pitchFamily="49" charset="0"/>
              </a:rPr>
              <a:t>03_DASHBOARD_CORE/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A0CBA7-7BD4-8A4F-1986-D68F95A8545C}"/>
              </a:ext>
            </a:extLst>
          </p:cNvPr>
          <p:cNvSpPr/>
          <p:nvPr/>
        </p:nvSpPr>
        <p:spPr>
          <a:xfrm>
            <a:off x="3683000" y="4038600"/>
            <a:ext cx="2159000" cy="381000"/>
          </a:xfrm>
          <a:prstGeom prst="round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Độc Quyền Ghi (Write-Only)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92E3D-D6C7-484A-8B96-3374203A4D7B}"/>
              </a:ext>
            </a:extLst>
          </p:cNvPr>
          <p:cNvSpPr txBox="1"/>
          <p:nvPr/>
        </p:nvSpPr>
        <p:spPr>
          <a:xfrm>
            <a:off x="6032500" y="39497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ai4a-dashboard-architect
Chứa mã nguồn Single-file HTML, style CSS và bộ công cụ chụp ảnh Zalo 30s.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43996B-9CE9-64CF-CFBE-3D91D249C583}"/>
              </a:ext>
            </a:extLst>
          </p:cNvPr>
          <p:cNvSpPr/>
          <p:nvPr/>
        </p:nvSpPr>
        <p:spPr>
          <a:xfrm>
            <a:off x="571500" y="46736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D9E920-AF9E-3292-5EB2-FA3687EB4EA8}"/>
              </a:ext>
            </a:extLst>
          </p:cNvPr>
          <p:cNvSpPr/>
          <p:nvPr/>
        </p:nvSpPr>
        <p:spPr>
          <a:xfrm>
            <a:off x="698500" y="47752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08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08200"/>
                </a:solidFill>
                <a:latin typeface="Consolas" panose="020B0609020204030204" pitchFamily="49" charset="0"/>
              </a:rPr>
              <a:t>04_RELEASE_AUDIT/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7656A3-1216-F514-4929-847D7A9CD1D1}"/>
              </a:ext>
            </a:extLst>
          </p:cNvPr>
          <p:cNvSpPr/>
          <p:nvPr/>
        </p:nvSpPr>
        <p:spPr>
          <a:xfrm>
            <a:off x="3683000" y="4826000"/>
            <a:ext cx="2159000" cy="381000"/>
          </a:xfrm>
          <a:prstGeom prst="roundRect">
            <a:avLst/>
          </a:prstGeom>
          <a:solidFill>
            <a:srgbClr val="0082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Chốt Chặn Kiểm Toán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6CD5E3-93CB-444C-7CDB-431319E19400}"/>
              </a:ext>
            </a:extLst>
          </p:cNvPr>
          <p:cNvSpPr txBox="1"/>
          <p:nvPr/>
        </p:nvSpPr>
        <p:spPr>
          <a:xfrm>
            <a:off x="6032500" y="47371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ai4a-qa-auditor
Chứa báo cáo đối soát Zero-Discrepancy (sai số = 0) và bản ký phát hành chính thức.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2FEA07-6EF0-E66F-4C53-3440B117AE75}"/>
              </a:ext>
            </a:extLst>
          </p:cNvPr>
          <p:cNvSpPr/>
          <p:nvPr/>
        </p:nvSpPr>
        <p:spPr>
          <a:xfrm>
            <a:off x="571500" y="5461000"/>
            <a:ext cx="1104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F88CCA-B6FE-5EF1-D600-DBC2272CBE4C}"/>
              </a:ext>
            </a:extLst>
          </p:cNvPr>
          <p:cNvSpPr/>
          <p:nvPr/>
        </p:nvSpPr>
        <p:spPr>
          <a:xfrm>
            <a:off x="698500" y="5562600"/>
            <a:ext cx="2794000" cy="482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64748B"/>
                </a:solidFill>
                <a:latin typeface="Consolas" panose="020B0609020204030204" pitchFamily="49" charset="0"/>
              </a:rPr>
              <a:t>_SYNC_CONTROL/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44FDA6F-3C8C-E05C-FB7E-B50D3714B293}"/>
              </a:ext>
            </a:extLst>
          </p:cNvPr>
          <p:cNvSpPr/>
          <p:nvPr/>
        </p:nvSpPr>
        <p:spPr>
          <a:xfrm>
            <a:off x="3683000" y="5613400"/>
            <a:ext cx="2159000" cy="381000"/>
          </a:xfrm>
          <a:prstGeom prst="round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Giao Thức Điều Phối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2E3CED-8B29-EA1E-A365-D2D46AD83A03}"/>
              </a:ext>
            </a:extLst>
          </p:cNvPr>
          <p:cNvSpPr txBox="1"/>
          <p:nvPr/>
        </p:nvSpPr>
        <p:spPr>
          <a:xfrm>
            <a:off x="6032500" y="5524500"/>
            <a:ext cx="5461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00" b="1">
                <a:solidFill>
                  <a:srgbClr val="334155"/>
                </a:solidFill>
                <a:latin typeface="Segoe UI" panose="020B0502040204020203" pitchFamily="34" charset="0"/>
              </a:rPr>
              <a:t>Phụ trách: Toàn Bộ Agent (Queue)
Lưu file task_manifest.json và các cờ pipeline.lock quản lý hàng đợi thực thi.</a:t>
            </a:r>
            <a:endParaRPr lang="en-US" sz="10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86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15307-BE6D-F67B-187A-4CFB3ADEC8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FD83-661C-BE1C-06C9-38F848CA87C1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  <a:latin typeface="Segoe UI" panose="020B0502040204020203" pitchFamily="34" charset="0"/>
              </a:rPr>
              <a:t>PHÂN BỔ TRÁCH NHIỆM CHUYÊN BIỆT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25517-B0BA-E49A-E6FA-41918954A48C}"/>
              </a:ext>
            </a:extLst>
          </p:cNvPr>
          <p:cNvSpPr txBox="1"/>
          <p:nvPr/>
        </p:nvSpPr>
        <p:spPr>
          <a:xfrm>
            <a:off x="571500" y="584200"/>
            <a:ext cx="11049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700" b="1">
                <a:solidFill>
                  <a:srgbClr val="0F172A"/>
                </a:solidFill>
                <a:latin typeface="Segoe UI" panose="020B0502040204020203" pitchFamily="34" charset="0"/>
              </a:rPr>
              <a:t>Mỗi Agent Giữ Một Chốt Chặn Độc Lập Theo Ma Trận RACI Để Triệt Tiêu Chồng Chéo Nhiệm Vụ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D7BAB-936F-2B38-6524-A197391085A5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2867F7-65E9-5D74-64FA-1BD6F9C514C1}"/>
              </a:ext>
            </a:extLst>
          </p:cNvPr>
          <p:cNvSpPr/>
          <p:nvPr/>
        </p:nvSpPr>
        <p:spPr>
          <a:xfrm>
            <a:off x="571500" y="1587500"/>
            <a:ext cx="11049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01F1F-7DE1-C96A-E9C2-2EADFED72AEE}"/>
              </a:ext>
            </a:extLst>
          </p:cNvPr>
          <p:cNvSpPr/>
          <p:nvPr/>
        </p:nvSpPr>
        <p:spPr>
          <a:xfrm>
            <a:off x="571500" y="1587500"/>
            <a:ext cx="76200" cy="8128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27356-0510-E099-F7FC-BAAC0806961D}"/>
              </a:ext>
            </a:extLst>
          </p:cNvPr>
          <p:cNvSpPr txBox="1"/>
          <p:nvPr/>
        </p:nvSpPr>
        <p:spPr>
          <a:xfrm>
            <a:off x="825500" y="1714500"/>
            <a:ext cx="3048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ai4a-brainstorm &amp; Lead
Vai trò: Orchestrator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FB6404-B242-8960-EBFC-97DBD2D8CDB0}"/>
              </a:ext>
            </a:extLst>
          </p:cNvPr>
          <p:cNvSpPr/>
          <p:nvPr/>
        </p:nvSpPr>
        <p:spPr>
          <a:xfrm>
            <a:off x="4064000" y="1816100"/>
            <a:ext cx="1143000" cy="330200"/>
          </a:xfrm>
          <a:prstGeom prst="round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Điều Phối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E4D71-4CD1-F86F-DFD5-B057C70D56EE}"/>
              </a:ext>
            </a:extLst>
          </p:cNvPr>
          <p:cNvSpPr txBox="1"/>
          <p:nvPr/>
        </p:nvSpPr>
        <p:spPr>
          <a:xfrm>
            <a:off x="5397500" y="1714500"/>
            <a:ext cx="6096000" cy="20774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50">
                <a:solidFill>
                  <a:srgbClr val="334155"/>
                </a:solidFill>
                <a:latin typeface="Segoe UI" panose="020B0502040204020203" pitchFamily="34" charset="0"/>
              </a:rPr>
              <a:t>Khảo sát yêu cầu, chia nhỏ sub-tasks, phát hành vé task_manifest.json, theo dõi tiến độ tổng thể.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E181FA-9177-324E-7888-87C59339023C}"/>
              </a:ext>
            </a:extLst>
          </p:cNvPr>
          <p:cNvSpPr/>
          <p:nvPr/>
        </p:nvSpPr>
        <p:spPr>
          <a:xfrm>
            <a:off x="571500" y="2527300"/>
            <a:ext cx="11049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248A2D-4BBB-B183-D68B-24380AE1E53A}"/>
              </a:ext>
            </a:extLst>
          </p:cNvPr>
          <p:cNvSpPr/>
          <p:nvPr/>
        </p:nvSpPr>
        <p:spPr>
          <a:xfrm>
            <a:off x="571500" y="2527300"/>
            <a:ext cx="76200" cy="8128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11E62-ABD3-56B9-5D15-95C23BAEFC07}"/>
              </a:ext>
            </a:extLst>
          </p:cNvPr>
          <p:cNvSpPr txBox="1"/>
          <p:nvPr/>
        </p:nvSpPr>
        <p:spPr>
          <a:xfrm>
            <a:off x="825500" y="2654300"/>
            <a:ext cx="3048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sz="1200" b="1">
                <a:solidFill>
                  <a:srgbClr val="0F172A"/>
                </a:solidFill>
                <a:latin typeface="Segoe UI" panose="020B0502040204020203" pitchFamily="34" charset="0"/>
              </a:rPr>
              <a:t>ai4a-data-cleaner
Vai trò: Data Engineer</a:t>
            </a:r>
            <a:endParaRPr lang="en-US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CF2FFA-C762-22C3-7F33-64B0922FF3E1}"/>
              </a:ext>
            </a:extLst>
          </p:cNvPr>
          <p:cNvSpPr/>
          <p:nvPr/>
        </p:nvSpPr>
        <p:spPr>
          <a:xfrm>
            <a:off x="4064000" y="2755900"/>
            <a:ext cx="1143000" cy="330200"/>
          </a:xfrm>
          <a:prstGeom prst="round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Làm Sạch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769A8-7561-CFA6-DFEC-AD8F4C5DBFD6}"/>
              </a:ext>
            </a:extLst>
          </p:cNvPr>
          <p:cNvSpPr txBox="1"/>
          <p:nvPr/>
        </p:nvSpPr>
        <p:spPr>
          <a:xfrm>
            <a:off x="5397500" y="2654300"/>
            <a:ext cx="6096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50">
                <a:solidFill>
                  <a:srgbClr val="334155"/>
                </a:solidFill>
                <a:latin typeface="Segoe UI" panose="020B0502040204020203" pitchFamily="34" charset="0"/>
              </a:rPr>
              <a:t>Khử trùng lặp, xử lý missing value, chuẩn hóa schema UTF-8, chuyển đổi kiểu số an toàn không chia cho 0.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030CA3-5555-1534-BADB-3A1B259AC521}"/>
              </a:ext>
            </a:extLst>
          </p:cNvPr>
          <p:cNvSpPr/>
          <p:nvPr/>
        </p:nvSpPr>
        <p:spPr>
          <a:xfrm>
            <a:off x="571500" y="3467100"/>
            <a:ext cx="11049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4B12E5-BDFA-C9AF-EDA6-75C92AA2D0A7}"/>
              </a:ext>
            </a:extLst>
          </p:cNvPr>
          <p:cNvSpPr/>
          <p:nvPr/>
        </p:nvSpPr>
        <p:spPr>
          <a:xfrm>
            <a:off x="571500" y="3467100"/>
            <a:ext cx="76200" cy="8128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C0019-3DBA-F519-C480-2E2AFDC3E8AA}"/>
              </a:ext>
            </a:extLst>
          </p:cNvPr>
          <p:cNvSpPr txBox="1"/>
          <p:nvPr/>
        </p:nvSpPr>
        <p:spPr>
          <a:xfrm>
            <a:off x="825500" y="3594100"/>
            <a:ext cx="3048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sz="1200" b="1">
                <a:solidFill>
                  <a:srgbClr val="0F172A"/>
                </a:solidFill>
                <a:latin typeface="Segoe UI" panose="020B0502040204020203" pitchFamily="34" charset="0"/>
              </a:rPr>
              <a:t>ai4a-dashboard-architect
Vai trò: BI Specialist</a:t>
            </a:r>
            <a:endParaRPr lang="en-US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AE335C-34C2-C870-357D-6C96F03AA972}"/>
              </a:ext>
            </a:extLst>
          </p:cNvPr>
          <p:cNvSpPr/>
          <p:nvPr/>
        </p:nvSpPr>
        <p:spPr>
          <a:xfrm>
            <a:off x="4064000" y="3695700"/>
            <a:ext cx="1143000" cy="330200"/>
          </a:xfrm>
          <a:prstGeom prst="round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Kiến Trúc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C83EFD-6AC4-66CF-3ACB-2606CBA46855}"/>
              </a:ext>
            </a:extLst>
          </p:cNvPr>
          <p:cNvSpPr txBox="1"/>
          <p:nvPr/>
        </p:nvSpPr>
        <p:spPr>
          <a:xfrm>
            <a:off x="5397500" y="3594100"/>
            <a:ext cx="6096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50">
                <a:solidFill>
                  <a:srgbClr val="334155"/>
                </a:solidFill>
                <a:latin typeface="Segoe UI" panose="020B0502040204020203" pitchFamily="34" charset="0"/>
              </a:rPr>
              <a:t>Mô hình hóa Fact/Dim, xây dựng Pre-aggregation Engine giảm 50MB -&gt; 1.5MB, dựng UI Single-file HTML.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8E5801-737A-39C5-F2A7-816B6B0C6419}"/>
              </a:ext>
            </a:extLst>
          </p:cNvPr>
          <p:cNvSpPr/>
          <p:nvPr/>
        </p:nvSpPr>
        <p:spPr>
          <a:xfrm>
            <a:off x="571500" y="4406900"/>
            <a:ext cx="11049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D985B8-272E-77C0-4AAB-5EB2ABCABCD5}"/>
              </a:ext>
            </a:extLst>
          </p:cNvPr>
          <p:cNvSpPr/>
          <p:nvPr/>
        </p:nvSpPr>
        <p:spPr>
          <a:xfrm>
            <a:off x="571500" y="4406900"/>
            <a:ext cx="76200" cy="812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D3DEE7-E048-E84D-BDE5-3DE4C011A0EE}"/>
              </a:ext>
            </a:extLst>
          </p:cNvPr>
          <p:cNvSpPr txBox="1"/>
          <p:nvPr/>
        </p:nvSpPr>
        <p:spPr>
          <a:xfrm>
            <a:off x="825500" y="4533900"/>
            <a:ext cx="3048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ai4a-qa-auditor
Vai trò: Quality Gatekeeper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4581AE-BB3B-7BB7-B4A6-AF77934F5EFE}"/>
              </a:ext>
            </a:extLst>
          </p:cNvPr>
          <p:cNvSpPr/>
          <p:nvPr/>
        </p:nvSpPr>
        <p:spPr>
          <a:xfrm>
            <a:off x="4064000" y="4635500"/>
            <a:ext cx="1143000" cy="3302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Kiểm Toán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D97E9B-50ED-0DA3-8241-5EDB9940D01D}"/>
              </a:ext>
            </a:extLst>
          </p:cNvPr>
          <p:cNvSpPr txBox="1"/>
          <p:nvPr/>
        </p:nvSpPr>
        <p:spPr>
          <a:xfrm>
            <a:off x="5397500" y="4533900"/>
            <a:ext cx="6096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50">
                <a:solidFill>
                  <a:srgbClr val="334155"/>
                </a:solidFill>
                <a:latin typeface="Segoe UI" panose="020B0502040204020203" pitchFamily="34" charset="0"/>
              </a:rPr>
              <a:t>Kiểm toán đối soát số học Zero Discrepancy = 0, quét lỗi bảo mật, test hiệu năng tải mượt mà trên Mobile.</a:t>
            </a:r>
            <a:endParaRPr lang="en-US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D84FB4-B2D6-D52B-C878-154AEA7FDAE7}"/>
              </a:ext>
            </a:extLst>
          </p:cNvPr>
          <p:cNvSpPr/>
          <p:nvPr/>
        </p:nvSpPr>
        <p:spPr>
          <a:xfrm>
            <a:off x="571500" y="5346700"/>
            <a:ext cx="11049000" cy="812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74EDEA-98EC-24AD-0954-1C99D66B0D0A}"/>
              </a:ext>
            </a:extLst>
          </p:cNvPr>
          <p:cNvSpPr/>
          <p:nvPr/>
        </p:nvSpPr>
        <p:spPr>
          <a:xfrm>
            <a:off x="571500" y="5346700"/>
            <a:ext cx="76200" cy="8128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C4D9CB-6A55-2C4E-2005-580BACC9CBE3}"/>
              </a:ext>
            </a:extLst>
          </p:cNvPr>
          <p:cNvSpPr txBox="1"/>
          <p:nvPr/>
        </p:nvSpPr>
        <p:spPr>
          <a:xfrm>
            <a:off x="825500" y="5473700"/>
            <a:ext cx="3048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ai4a-software-engineer
Vai trò: Systems Engineer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DC1BC40-AB9E-5A5D-0DF9-2CCF2FDB2D13}"/>
              </a:ext>
            </a:extLst>
          </p:cNvPr>
          <p:cNvSpPr/>
          <p:nvPr/>
        </p:nvSpPr>
        <p:spPr>
          <a:xfrm>
            <a:off x="4064000" y="5575300"/>
            <a:ext cx="1143000" cy="330200"/>
          </a:xfrm>
          <a:prstGeom prst="round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Gỡ Lỗi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5A44EB-CB05-51F6-BAA7-AC6A24D56A7A}"/>
              </a:ext>
            </a:extLst>
          </p:cNvPr>
          <p:cNvSpPr txBox="1"/>
          <p:nvPr/>
        </p:nvSpPr>
        <p:spPr>
          <a:xfrm>
            <a:off x="5397500" y="5473700"/>
            <a:ext cx="6096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50">
                <a:solidFill>
                  <a:srgbClr val="334155"/>
                </a:solidFill>
                <a:latin typeface="Segoe UI" panose="020B0502040204020203" pitchFamily="34" charset="0"/>
              </a:rPr>
              <a:t>Standby điều tra nguyên nhân gốc rễ (RCA), gỡ lỗi runtime, memory leak và phát hành Minimal Invasive Patch.</a:t>
            </a:r>
          </a:p>
        </p:txBody>
      </p:sp>
    </p:spTree>
    <p:extLst>
      <p:ext uri="{BB962C8B-B14F-4D97-AF65-F5344CB8AC3E}">
        <p14:creationId xmlns:p14="http://schemas.microsoft.com/office/powerpoint/2010/main" val="116088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C6A50-A402-C892-514C-C050916832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91E2C-F26C-F80D-06FB-CF1A17AE9797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284C7"/>
                </a:solidFill>
                <a:latin typeface="Segoe UI" panose="020B0502040204020203" pitchFamily="34" charset="0"/>
              </a:rPr>
              <a:t>GIAO THỨC ĐIỀU PHỐI LIÊN AGENT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31FF6-96E9-2D8B-BF6C-2CAF24BDE3E3}"/>
              </a:ext>
            </a:extLst>
          </p:cNvPr>
          <p:cNvSpPr txBox="1"/>
          <p:nvPr/>
        </p:nvSpPr>
        <p:spPr>
          <a:xfrm>
            <a:off x="571500" y="584200"/>
            <a:ext cx="11049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700" b="1">
                <a:solidFill>
                  <a:srgbClr val="0F172A"/>
                </a:solidFill>
                <a:latin typeface="Segoe UI" panose="020B0502040204020203" pitchFamily="34" charset="0"/>
              </a:rPr>
              <a:t>Quy Trình Hand-off 4 Bước Đảm Bảo Agent Sau Chỉ Xử Lý Khi Có Chứng Nhận PASSED Của QA Auditor</a:t>
            </a:r>
            <a:endParaRPr lang="en-US" sz="17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E94C0-0262-2E1C-5D75-1C71F9289D8A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BEE274-5B10-3996-327B-51B12EEBE1B9}"/>
              </a:ext>
            </a:extLst>
          </p:cNvPr>
          <p:cNvSpPr/>
          <p:nvPr/>
        </p:nvSpPr>
        <p:spPr>
          <a:xfrm>
            <a:off x="571500" y="1651000"/>
            <a:ext cx="26035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505FA2-480B-49B8-EB4C-7CA0D91910D9}"/>
              </a:ext>
            </a:extLst>
          </p:cNvPr>
          <p:cNvSpPr/>
          <p:nvPr/>
        </p:nvSpPr>
        <p:spPr>
          <a:xfrm>
            <a:off x="571500" y="1651000"/>
            <a:ext cx="2603500" cy="571500"/>
          </a:xfrm>
          <a:prstGeom prst="rect">
            <a:avLst/>
          </a:prstGeom>
          <a:solidFill>
            <a:srgbClr val="0284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b="1">
                <a:solidFill>
                  <a:srgbClr val="FFFFFF"/>
                </a:solidFill>
                <a:latin typeface="Segoe UI" panose="020B0502040204020203" pitchFamily="34" charset="0"/>
              </a:rPr>
              <a:t>BƯỚC 1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47337-D1B5-89C9-6E19-A6E237D63299}"/>
              </a:ext>
            </a:extLst>
          </p:cNvPr>
          <p:cNvSpPr txBox="1"/>
          <p:nvPr/>
        </p:nvSpPr>
        <p:spPr>
          <a:xfrm>
            <a:off x="698500" y="2413000"/>
            <a:ext cx="23495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Claim Task &amp; Ghi Khóa 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4577C-27D3-6512-A8D0-2BDC0501C359}"/>
              </a:ext>
            </a:extLst>
          </p:cNvPr>
          <p:cNvSpPr txBox="1"/>
          <p:nvPr/>
        </p:nvSpPr>
        <p:spPr>
          <a:xfrm>
            <a:off x="698500" y="3302000"/>
            <a:ext cx="2349500" cy="5539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475569"/>
                </a:solidFill>
                <a:latin typeface="Segoe UI" panose="020B0502040204020203" pitchFamily="34" charset="0"/>
              </a:rPr>
              <a:t>Ghi file .pipeline.lock vào thư mục _SYNC_CONTROL để báo hiệu đang chiếm quyền</a:t>
            </a:r>
            <a:endParaRPr lang="en-US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83B373-30EE-1599-8380-E5A17B53AAC3}"/>
              </a:ext>
            </a:extLst>
          </p:cNvPr>
          <p:cNvSpPr/>
          <p:nvPr/>
        </p:nvSpPr>
        <p:spPr>
          <a:xfrm>
            <a:off x="3365500" y="1651000"/>
            <a:ext cx="26035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6FE39D-F98C-EF45-FF43-D764DE8E7D36}"/>
              </a:ext>
            </a:extLst>
          </p:cNvPr>
          <p:cNvSpPr/>
          <p:nvPr/>
        </p:nvSpPr>
        <p:spPr>
          <a:xfrm>
            <a:off x="3365500" y="1651000"/>
            <a:ext cx="2603500" cy="571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b="1">
                <a:solidFill>
                  <a:srgbClr val="FFFFFF"/>
                </a:solidFill>
                <a:latin typeface="Segoe UI" panose="020B0502040204020203" pitchFamily="34" charset="0"/>
              </a:rPr>
              <a:t>BƯỚC 2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F2D47A-E63D-F675-1724-FE35356CC1DD}"/>
              </a:ext>
            </a:extLst>
          </p:cNvPr>
          <p:cNvSpPr txBox="1"/>
          <p:nvPr/>
        </p:nvSpPr>
        <p:spPr>
          <a:xfrm>
            <a:off x="3492500" y="2413000"/>
            <a:ext cx="23495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Xử Lý Độc Lập Ra File Tạm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FA661-4111-AE56-E9AD-01C1F819BF9E}"/>
              </a:ext>
            </a:extLst>
          </p:cNvPr>
          <p:cNvSpPr txBox="1"/>
          <p:nvPr/>
        </p:nvSpPr>
        <p:spPr>
          <a:xfrm>
            <a:off x="3492500" y="3302000"/>
            <a:ext cx="2349500" cy="5539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00">
                <a:solidFill>
                  <a:srgbClr val="475569"/>
                </a:solidFill>
                <a:latin typeface="Segoe UI" panose="020B0502040204020203" pitchFamily="34" charset="0"/>
              </a:rPr>
              <a:t>Xuất bản file kết quả nháp dạng temp_output.json, không ghi đè vào thư mục đích</a:t>
            </a:r>
            <a:endParaRPr lang="en-US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B598DA-1636-48E8-1861-25CB2812D25B}"/>
              </a:ext>
            </a:extLst>
          </p:cNvPr>
          <p:cNvSpPr/>
          <p:nvPr/>
        </p:nvSpPr>
        <p:spPr>
          <a:xfrm>
            <a:off x="6159500" y="1651000"/>
            <a:ext cx="26035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545DED-7C23-B590-C4AF-FC6236A1D72A}"/>
              </a:ext>
            </a:extLst>
          </p:cNvPr>
          <p:cNvSpPr/>
          <p:nvPr/>
        </p:nvSpPr>
        <p:spPr>
          <a:xfrm>
            <a:off x="6159500" y="1651000"/>
            <a:ext cx="2603500" cy="571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b="1">
                <a:solidFill>
                  <a:srgbClr val="FFFFFF"/>
                </a:solidFill>
                <a:latin typeface="Segoe UI" panose="020B0502040204020203" pitchFamily="34" charset="0"/>
              </a:rPr>
              <a:t>BƯỚC 3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9A34E-0F1F-80D3-5B94-FD1B2EBF97CA}"/>
              </a:ext>
            </a:extLst>
          </p:cNvPr>
          <p:cNvSpPr txBox="1"/>
          <p:nvPr/>
        </p:nvSpPr>
        <p:spPr>
          <a:xfrm>
            <a:off x="6286500" y="2413000"/>
            <a:ext cx="23495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QA Auditor Đối Soát Cấp Pass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1B6CD-7AA9-D78F-B0AF-3550331D7572}"/>
              </a:ext>
            </a:extLst>
          </p:cNvPr>
          <p:cNvSpPr txBox="1"/>
          <p:nvPr/>
        </p:nvSpPr>
        <p:spPr>
          <a:xfrm>
            <a:off x="6286500" y="3302000"/>
            <a:ext cx="2349500" cy="5539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Chạy script kiểm toán sai số = 0; nếu fail trả lại, nếu đạt cấp chứng chỉ audit_status=PASSED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7216EF-B601-CE09-4980-56C2AD385846}"/>
              </a:ext>
            </a:extLst>
          </p:cNvPr>
          <p:cNvSpPr/>
          <p:nvPr/>
        </p:nvSpPr>
        <p:spPr>
          <a:xfrm>
            <a:off x="8953500" y="1651000"/>
            <a:ext cx="26035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9E2A2F-5CC2-5621-9554-A16028AFD4BA}"/>
              </a:ext>
            </a:extLst>
          </p:cNvPr>
          <p:cNvSpPr/>
          <p:nvPr/>
        </p:nvSpPr>
        <p:spPr>
          <a:xfrm>
            <a:off x="8953500" y="1651000"/>
            <a:ext cx="2603500" cy="5715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b="1">
                <a:solidFill>
                  <a:srgbClr val="FFFFFF"/>
                </a:solidFill>
                <a:latin typeface="Segoe UI" panose="020B0502040204020203" pitchFamily="34" charset="0"/>
              </a:rPr>
              <a:t>BƯỚC 4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143FB0-C4ED-ECE7-72DE-733F69584DED}"/>
              </a:ext>
            </a:extLst>
          </p:cNvPr>
          <p:cNvSpPr txBox="1"/>
          <p:nvPr/>
        </p:nvSpPr>
        <p:spPr>
          <a:xfrm>
            <a:off x="9080500" y="2413000"/>
            <a:ext cx="23495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Thăng Hạng &amp; Mở Khóa Chuyển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AA0DF5-94D0-64D1-42B5-E0B4B1F1FA9D}"/>
              </a:ext>
            </a:extLst>
          </p:cNvPr>
          <p:cNvSpPr txBox="1"/>
          <p:nvPr/>
        </p:nvSpPr>
        <p:spPr>
          <a:xfrm>
            <a:off x="9080500" y="3302000"/>
            <a:ext cx="2349500" cy="5539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Đổi tên file chính thức, xóa file lock và kích hoạt task tiếp theo trong manifest.json</a:t>
            </a:r>
          </a:p>
        </p:txBody>
      </p:sp>
    </p:spTree>
    <p:extLst>
      <p:ext uri="{BB962C8B-B14F-4D97-AF65-F5344CB8AC3E}">
        <p14:creationId xmlns:p14="http://schemas.microsoft.com/office/powerpoint/2010/main" val="314156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3A7AFE-061B-15F2-33D7-1B8BA3DADA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71CD6-C497-83DC-8D16-ED91D024E645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000" b="1">
                <a:solidFill>
                  <a:srgbClr val="0284C7"/>
                </a:solidFill>
                <a:latin typeface="Segoe UI" panose="020B0502040204020203" pitchFamily="34" charset="0"/>
              </a:rPr>
              <a:t>TỐI ƯU HÓA HIỆU NĂNG DASHBOARD</a:t>
            </a:r>
            <a:endParaRPr lang="en-US" sz="10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0170E-A262-910D-C612-6147B6DA7F84}"/>
              </a:ext>
            </a:extLst>
          </p:cNvPr>
          <p:cNvSpPr txBox="1"/>
          <p:nvPr/>
        </p:nvSpPr>
        <p:spPr>
          <a:xfrm>
            <a:off x="571500" y="584200"/>
            <a:ext cx="11049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700" b="1">
                <a:solidFill>
                  <a:srgbClr val="0F172A"/>
                </a:solidFill>
                <a:latin typeface="Segoe UI" panose="020B0502040204020203" pitchFamily="34" charset="0"/>
              </a:rPr>
              <a:t>Nén Dữ Liệu Đa Chiều Giúp Thu Gọn Kích Thước File 97%, Đạt Tốc Độ Mở Trang Dưới 0.5 Giây Trên Mobile</a:t>
            </a:r>
            <a:endParaRPr lang="en-US" sz="17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FAD90-60A2-47E8-80F1-00AE0EADC818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50A72E-206D-141C-9362-BE5AB4F0BC70}"/>
              </a:ext>
            </a:extLst>
          </p:cNvPr>
          <p:cNvSpPr/>
          <p:nvPr/>
        </p:nvSpPr>
        <p:spPr>
          <a:xfrm>
            <a:off x="571500" y="1587500"/>
            <a:ext cx="5334000" cy="46355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95DDE6-00DF-94CE-54FA-803586403266}"/>
              </a:ext>
            </a:extLst>
          </p:cNvPr>
          <p:cNvSpPr/>
          <p:nvPr/>
        </p:nvSpPr>
        <p:spPr>
          <a:xfrm>
            <a:off x="571500" y="1587500"/>
            <a:ext cx="5334000" cy="50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❌  CÁCH LÀM TRUYỀN THỐNG: ĐẨY FILE THÔ LÊN WEB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B821E-9FCA-6FE8-4C09-05A45F6272F9}"/>
              </a:ext>
            </a:extLst>
          </p:cNvPr>
          <p:cNvSpPr txBox="1"/>
          <p:nvPr/>
        </p:nvSpPr>
        <p:spPr>
          <a:xfrm>
            <a:off x="825500" y="2286000"/>
            <a:ext cx="4826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50">
                <a:solidFill>
                  <a:srgbClr val="450A0A"/>
                </a:solidFill>
                <a:latin typeface="Segoe UI" panose="020B0502040204020203" pitchFamily="34" charset="0"/>
              </a:rPr>
              <a:t>• Dung lượng payload khổng lồ: 50MB – 150MB file thô
• Trình duyệt tải mất 15 – 30 giây mới hiển thị biểu đồ
• Trình duyệt mobile bị cạn RAM, thường xuyên crash đơ tab
• Chi phí băng thông mạng tăng vọt khi nhiều quản lý cùng xem
• Lãnh đạo không thể mở báo cáo khi đi công tác ngoài thị trường</a:t>
            </a:r>
            <a:endParaRPr lang="en-US" sz="1150">
              <a:solidFill>
                <a:srgbClr val="450A0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3E1850-81E9-4C12-F664-C3B487F9E1E6}"/>
              </a:ext>
            </a:extLst>
          </p:cNvPr>
          <p:cNvSpPr/>
          <p:nvPr/>
        </p:nvSpPr>
        <p:spPr>
          <a:xfrm>
            <a:off x="6286500" y="1587500"/>
            <a:ext cx="5334000" cy="46355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9F196-67BF-AFEC-6960-E99839375D38}"/>
              </a:ext>
            </a:extLst>
          </p:cNvPr>
          <p:cNvSpPr/>
          <p:nvPr/>
        </p:nvSpPr>
        <p:spPr>
          <a:xfrm>
            <a:off x="6286500" y="1587500"/>
            <a:ext cx="5334000" cy="508000"/>
          </a:xfrm>
          <a:prstGeom prst="rect">
            <a:avLst/>
          </a:prstGeom>
          <a:solidFill>
            <a:srgbClr val="0596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>
                <a:solidFill>
                  <a:srgbClr val="FFFFFF"/>
                </a:solidFill>
                <a:latin typeface="Segoe UI" panose="020B0502040204020203" pitchFamily="34" charset="0"/>
              </a:rPr>
              <a:t>✅  CHUẨN AI4A: PRE-AGGREGATION ENGINE &lt; 1.5MB</a:t>
            </a:r>
            <a:endParaRPr lang="en-US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6F3F3-710C-3A4B-1103-55C59C55D43F}"/>
              </a:ext>
            </a:extLst>
          </p:cNvPr>
          <p:cNvSpPr txBox="1"/>
          <p:nvPr/>
        </p:nvSpPr>
        <p:spPr>
          <a:xfrm>
            <a:off x="6540500" y="2286000"/>
            <a:ext cx="4826000" cy="16389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1150">
                <a:solidFill>
                  <a:srgbClr val="064E3B"/>
                </a:solidFill>
                <a:latin typeface="Segoe UI" panose="020B0502040204020203" pitchFamily="34" charset="0"/>
              </a:rPr>
              <a:t>• Nén dữ liệu giảm 97%: Payload cuối cùng chỉ còn 1.2MB
• Thời gian tải tức thì &lt; 0.5s trên mọi đường truyền di động
• Tiền tổng hợp theo Fact/Dim: Chi nhánh, Tuần, Nhóm SKU
• Tích hợp bộ công cụ tác chiến Zalo (xuất thẻ ảnh 30s, copy 1 chạm)
• Single-file HTML độc lập: Mở offline không cần cài đặt thêm server</a:t>
            </a:r>
            <a:endParaRPr lang="en-US" sz="1150">
              <a:solidFill>
                <a:srgbClr val="064E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84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F370C-6B6D-53A4-E099-9CB2E3BD46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9D3D3-F0A4-888B-2EB8-492F61C9349C}"/>
              </a:ext>
            </a:extLst>
          </p:cNvPr>
          <p:cNvSpPr txBox="1"/>
          <p:nvPr/>
        </p:nvSpPr>
        <p:spPr>
          <a:xfrm>
            <a:off x="571500" y="317500"/>
            <a:ext cx="11049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LỘ TRÌNH TRIỂN KHAI &amp; CHECKLIST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38653-5705-DE87-896B-0112E25D513D}"/>
              </a:ext>
            </a:extLst>
          </p:cNvPr>
          <p:cNvSpPr txBox="1"/>
          <p:nvPr/>
        </p:nvSpPr>
        <p:spPr>
          <a:xfrm>
            <a:off x="571500" y="584200"/>
            <a:ext cx="11049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Hoàn Tất Bàn Giao Dashboard Trong 4 Giai Đoạn Chặt Chẽ Với Chữ Ký Nghiệm Thu Của QA Auditor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F62AD-1812-ECA0-1E7B-5E411693736D}"/>
              </a:ext>
            </a:extLst>
          </p:cNvPr>
          <p:cNvSpPr/>
          <p:nvPr/>
        </p:nvSpPr>
        <p:spPr>
          <a:xfrm>
            <a:off x="571500" y="1295400"/>
            <a:ext cx="11049000" cy="254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A5FE16-9A10-B2B1-2E31-401FAD7A81A4}"/>
              </a:ext>
            </a:extLst>
          </p:cNvPr>
          <p:cNvSpPr/>
          <p:nvPr/>
        </p:nvSpPr>
        <p:spPr>
          <a:xfrm>
            <a:off x="571500" y="1587500"/>
            <a:ext cx="5334000" cy="4635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15E20-1C92-FE15-0226-EB62ABC8A7A0}"/>
              </a:ext>
            </a:extLst>
          </p:cNvPr>
          <p:cNvSpPr txBox="1"/>
          <p:nvPr/>
        </p:nvSpPr>
        <p:spPr>
          <a:xfrm>
            <a:off x="825500" y="17780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284C7"/>
                </a:solidFill>
                <a:latin typeface="Segoe UI" panose="020B0502040204020203" pitchFamily="34" charset="0"/>
              </a:rPr>
              <a:t>LỘ TRÌNH 4 GIAI ĐOẠN SPRINT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A67B1-57C2-7912-76B5-8E48492DF57F}"/>
              </a:ext>
            </a:extLst>
          </p:cNvPr>
          <p:cNvSpPr txBox="1"/>
          <p:nvPr/>
        </p:nvSpPr>
        <p:spPr>
          <a:xfrm>
            <a:off x="825500" y="2286000"/>
            <a:ext cx="4826000" cy="16850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50">
                <a:solidFill>
                  <a:srgbClr val="E2E8F0"/>
                </a:solidFill>
                <a:latin typeface="Segoe UI" panose="020B0502040204020203" pitchFamily="34" charset="0"/>
              </a:rPr>
              <a:t>▶  Giai đoạn 1 (D1): Setup 5 folder Drive &amp; khởi tạo task_manifest.json
▶  Giai đoạn 2 (D2): Data Cleaner làm sạch và kiểm toán schema UTF-8
▶  Giai đoạn 3 (D3): Dashboard Architect tạo Data Cubes &amp; dựng Single HTML
▶  Giai đoạn 4 (D4): QA Auditor đối soát sai số = 0 &amp; phát hành cho BOD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57E90C-C714-7834-2043-A029558D85FF}"/>
              </a:ext>
            </a:extLst>
          </p:cNvPr>
          <p:cNvSpPr/>
          <p:nvPr/>
        </p:nvSpPr>
        <p:spPr>
          <a:xfrm>
            <a:off x="6286500" y="1587500"/>
            <a:ext cx="5334000" cy="46355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46453-0F4F-2556-1F6C-827834D8BBFB}"/>
              </a:ext>
            </a:extLst>
          </p:cNvPr>
          <p:cNvSpPr txBox="1"/>
          <p:nvPr/>
        </p:nvSpPr>
        <p:spPr>
          <a:xfrm>
            <a:off x="6540500" y="17780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300" b="1">
                <a:solidFill>
                  <a:srgbClr val="059669"/>
                </a:solidFill>
                <a:latin typeface="Segoe UI" panose="020B0502040204020203" pitchFamily="34" charset="0"/>
              </a:rPr>
              <a:t>CHECKLIST NGHIỆM THU TRƯỚC KHI BÀN GIAO</a:t>
            </a:r>
            <a:endParaRPr lang="en-US" sz="13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4181B-7574-07DB-23F8-1FE8F34C6647}"/>
              </a:ext>
            </a:extLst>
          </p:cNvPr>
          <p:cNvSpPr txBox="1"/>
          <p:nvPr/>
        </p:nvSpPr>
        <p:spPr>
          <a:xfrm>
            <a:off x="6540500" y="2286000"/>
            <a:ext cx="4826000" cy="16850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150">
                <a:solidFill>
                  <a:srgbClr val="E2E8F0"/>
                </a:solidFill>
                <a:latin typeface="Segoe UI" panose="020B0502040204020203" pitchFamily="34" charset="0"/>
              </a:rPr>
              <a:t>[v] Không còn file .pipeline.lock tồn đọng trên Google Drive
[v] Dung lượng file Single HTML Dashboard cuối cùng &lt; 1.5MB
[v] Báo cáo đối soát reconciliation đạt độ lệch chính xác 0.00%
[v] Đã kiểm tra mở mượt mà trên Google Chrome Mobile &amp; Safari
[v] Bộ công cụ Zalo xuất ảnh thẻ 30s và copy tin nhắn hoạt động tốt</a:t>
            </a:r>
            <a:endParaRPr lang="en-US" sz="11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40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</Words>
  <Application>Microsoft Office PowerPoint</Application>
  <PresentationFormat>Custom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Thanh An</dc:creator>
  <cp:lastModifiedBy>Nguyen Thanh An</cp:lastModifiedBy>
  <cp:revision>1</cp:revision>
  <dcterms:created xsi:type="dcterms:W3CDTF">2026-09-13T09:46:47Z</dcterms:created>
  <dcterms:modified xsi:type="dcterms:W3CDTF">2026-09-13T09:46:47Z</dcterms:modified>
</cp:coreProperties>
</file>